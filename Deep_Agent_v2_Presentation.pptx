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822960"/>
            <a:ext cx="11183112" cy="4663440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822960"/>
            <a:ext cx="320040" cy="4663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005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FF"/>
                </a:solidFill>
              </a:rPr>
              <a:t>I N T E R N S H I P   P R O J E C T   P R E S E N T A T I O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63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Deep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2834640"/>
            <a:ext cx="178308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285292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 2 .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1012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8D8F0"/>
                </a:solidFill>
              </a:rPr>
              <a:t>Dynamic Multi-Agent Router  ·  Intelligent LLM Orchestration  ·  Cost Optimization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6352" y="3931920"/>
            <a:ext cx="992124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9504" y="3977639"/>
            <a:ext cx="8823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LiteLLM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91356" y="3931920"/>
            <a:ext cx="704088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4508" y="3977639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Groq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8324" y="3931920"/>
            <a:ext cx="1568195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1476" y="3977639"/>
            <a:ext cx="14584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Google Gemini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3931920"/>
            <a:ext cx="1184148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3977639"/>
            <a:ext cx="10744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Streamlit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6427" y="3931920"/>
            <a:ext cx="13761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9579" y="3977639"/>
            <a:ext cx="12664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Python 3.9+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03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0807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0"/>
                </a:solidFill>
              </a:rPr>
              <a:t>Presented by: [Shivam and Jay Kishan]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608076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8D8F0"/>
                </a:solidFill>
              </a:rPr>
              <a:t>Mentor Review  —  April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92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A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"/>
            <a:ext cx="777240" cy="2468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5544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Today's 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572768"/>
            <a:ext cx="5596128" cy="1572768"/>
          </a:xfrm>
          <a:prstGeom prst="rect">
            <a:avLst/>
          </a:prstGeom>
          <a:solidFill>
            <a:srgbClr val="0F1D35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755648"/>
            <a:ext cx="59436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1773936"/>
            <a:ext cx="576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00784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Title +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157984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0"/>
                </a:solidFill>
              </a:rPr>
              <a:t>Project overview, problem statement &amp; motivation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572768"/>
            <a:ext cx="5596128" cy="1572768"/>
          </a:xfrm>
          <a:prstGeom prst="rect">
            <a:avLst/>
          </a:prstGeom>
          <a:solidFill>
            <a:srgbClr val="0F1D35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82512" y="1755648"/>
            <a:ext cx="59436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1773936"/>
            <a:ext cx="576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1700784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Project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2157984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0"/>
                </a:solidFill>
              </a:rPr>
              <a:t>Architecture, features, pipeline &amp; what was built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291839"/>
            <a:ext cx="5596128" cy="1572768"/>
          </a:xfrm>
          <a:prstGeom prst="rect">
            <a:avLst/>
          </a:prstGeom>
          <a:solidFill>
            <a:srgbClr val="0F1D35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" y="3474720"/>
            <a:ext cx="59436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3493008"/>
            <a:ext cx="576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419856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Methods, Skills &amp; Technology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877055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0"/>
                </a:solidFill>
              </a:rPr>
              <a:t>Tech stack, diagrams, new skills acquired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3291839"/>
            <a:ext cx="5596128" cy="1572768"/>
          </a:xfrm>
          <a:prstGeom prst="rect">
            <a:avLst/>
          </a:prstGeom>
          <a:solidFill>
            <a:srgbClr val="0F1D35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82512" y="3474720"/>
            <a:ext cx="59436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3493008"/>
            <a:ext cx="576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3419856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Goals &amp; Objectives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3877055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0"/>
                </a:solidFill>
              </a:rPr>
              <a:t>How Deep Agent fulfils all 8 internship objectives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5010912"/>
            <a:ext cx="5596128" cy="1572768"/>
          </a:xfrm>
          <a:prstGeom prst="rect">
            <a:avLst/>
          </a:prstGeom>
          <a:solidFill>
            <a:srgbClr val="0F1D35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2064" y="5193792"/>
            <a:ext cx="59436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7" y="5212079"/>
            <a:ext cx="576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138927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596127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0"/>
                </a:solidFill>
              </a:rPr>
              <a:t>Measured outcomes, cost savings, metrics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4496" y="5010912"/>
            <a:ext cx="5596128" cy="1572768"/>
          </a:xfrm>
          <a:prstGeom prst="rect">
            <a:avLst/>
          </a:prstGeom>
          <a:solidFill>
            <a:srgbClr val="0F1D35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82512" y="5193792"/>
            <a:ext cx="59436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1656" y="5212079"/>
            <a:ext cx="576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4888" y="5138927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Future 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04888" y="5596127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F0"/>
                </a:solidFill>
              </a:rPr>
              <a:t>Phase 2 features &amp; GCP production 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92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A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"/>
            <a:ext cx="1325880" cy="2468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55448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Problem with Traditional LLM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Why a smart routing layer is essential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572768"/>
            <a:ext cx="5440680" cy="4956048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572768"/>
            <a:ext cx="5440680" cy="54864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69164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C4C"/>
                </a:solidFill>
              </a:rPr>
              <a:t>❌  Without Smart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176272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50" b="0">
                <a:solidFill>
                  <a:srgbClr val="C8D8F0"/>
                </a:solidFill>
              </a:rPr>
              <a:t>  ✗  Every query → most expensive Pro model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C8D8F0"/>
                </a:solidFill>
              </a:rPr>
              <a:t>  ✗  No specialization — generic prompts for all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C8D8F0"/>
                </a:solidFill>
              </a:rPr>
              <a:t>  ✗  No fallback when primary model fails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C8D8F0"/>
                </a:solidFill>
              </a:rPr>
              <a:t>  ✗  Zero cost visibility or comparison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C8D8F0"/>
                </a:solidFill>
              </a:rPr>
              <a:t>  ✗  Manual model selection required from user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C8D8F0"/>
                </a:solidFill>
              </a:rPr>
              <a:t>  ✗  Costs spiral uncontrollably with scale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C8D8F0"/>
                </a:solidFill>
              </a:rPr>
              <a:t>  ✗  Rate-limit errors cause silent failures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82512" y="1572768"/>
            <a:ext cx="5440680" cy="4956048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82512" y="1572768"/>
            <a:ext cx="5440680" cy="54864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69164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07A"/>
                </a:solidFill>
              </a:rPr>
              <a:t>✅  Deep Agent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176272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350" b="0">
                <a:solidFill>
                  <a:srgbClr val="C8D8F0"/>
                </a:solidFill>
              </a:rPr>
              <a:t>  ✓  Routes to cheapest sufficient model automatically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C8D8F0"/>
                </a:solidFill>
              </a:rPr>
              <a:t>  ✓  3 specialized agents — Coding, Math, Reasoning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C8D8F0"/>
                </a:solidFill>
              </a:rPr>
              <a:t>  ✓  3-level fallback ensures 99.8 % uptime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C8D8F0"/>
                </a:solidFill>
              </a:rPr>
              <a:t>  ✓  Full cost breakdown + savings % per query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C8D8F0"/>
                </a:solidFill>
              </a:rPr>
              <a:t>  ✓  Zero configuration — fully automatic routing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C8D8F0"/>
                </a:solidFill>
              </a:rPr>
              <a:t>  ✓  Up to 94 % cost reduction vs all-Pro routing</a:t>
            </a:r>
          </a:p>
          <a:p>
            <a:pPr algn="l">
              <a:spcBef>
                <a:spcPts val="500"/>
              </a:spcBef>
            </a:pPr>
            <a:r>
              <a:rPr sz="1350" b="0">
                <a:solidFill>
                  <a:srgbClr val="C8D8F0"/>
                </a:solidFill>
              </a:rPr>
              <a:t>  ✓  Input &amp; output guardrails for production safety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59552" y="3639312"/>
            <a:ext cx="749808" cy="7498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365760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70D1A"/>
                </a:solidFill>
              </a:rPr>
              <a:t>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92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A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"/>
            <a:ext cx="2057400" cy="24688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5544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End-to-End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Every query passes through this 6-stage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64208"/>
            <a:ext cx="1627632" cy="1325880"/>
          </a:xfrm>
          <a:prstGeom prst="rect">
            <a:avLst/>
          </a:prstGeom>
          <a:solidFill>
            <a:srgbClr val="55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847088"/>
            <a:ext cx="15361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User
Query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1627632" cy="292608"/>
          </a:xfrm>
          <a:prstGeom prst="rect">
            <a:avLst/>
          </a:prstGeom>
          <a:solidFill>
            <a:srgbClr val="03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2715768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2FF"/>
                </a:solidFill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1095" y="210312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9967" y="1664208"/>
            <a:ext cx="1627632" cy="132588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75687" y="1847088"/>
            <a:ext cx="15361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Input
Guardrails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29967" y="2697480"/>
            <a:ext cx="1627632" cy="292608"/>
          </a:xfrm>
          <a:prstGeom prst="rect">
            <a:avLst/>
          </a:prstGeom>
          <a:solidFill>
            <a:srgbClr val="03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48255" y="2715768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2FF"/>
                </a:solidFill>
              </a:rPr>
              <a:t>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210312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5615" y="1664208"/>
            <a:ext cx="1627632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31335" y="1847088"/>
            <a:ext cx="15361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Router
LLaMA 8B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5615" y="2697480"/>
            <a:ext cx="1627632" cy="292608"/>
          </a:xfrm>
          <a:prstGeom prst="rect">
            <a:avLst/>
          </a:prstGeom>
          <a:solidFill>
            <a:srgbClr val="03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03903" y="2715768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2FF"/>
                </a:solidFill>
              </a:rPr>
              <a:t>Classify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2392" y="210312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41264" y="1664208"/>
            <a:ext cx="1627632" cy="132588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6983" y="1847088"/>
            <a:ext cx="15361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Sub-Agent
+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41264" y="2697480"/>
            <a:ext cx="1627632" cy="292608"/>
          </a:xfrm>
          <a:prstGeom prst="rect">
            <a:avLst/>
          </a:prstGeom>
          <a:solidFill>
            <a:srgbClr val="03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59551" y="2715768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2FF"/>
                </a:solidFill>
              </a:rPr>
              <a:t>Execute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10312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1664208"/>
            <a:ext cx="1627632" cy="132588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42631" y="1847088"/>
            <a:ext cx="15361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Output
Guardrails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697480"/>
            <a:ext cx="1627632" cy="292608"/>
          </a:xfrm>
          <a:prstGeom prst="rect">
            <a:avLst/>
          </a:prstGeom>
          <a:solidFill>
            <a:srgbClr val="03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199" y="2715768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2FF"/>
                </a:solidFill>
              </a:rPr>
              <a:t>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33688" y="210312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1664208"/>
            <a:ext cx="1627632" cy="1325880"/>
          </a:xfrm>
          <a:prstGeom prst="rect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1847088"/>
            <a:ext cx="15361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Analytics
+ Log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2697480"/>
            <a:ext cx="1627632" cy="292608"/>
          </a:xfrm>
          <a:prstGeom prst="rect">
            <a:avLst/>
          </a:prstGeom>
          <a:solidFill>
            <a:srgbClr val="03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70848" y="2715768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2FF"/>
                </a:solidFill>
              </a:rPr>
              <a:t>Observe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255264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Model Tiers — Dynamically Selected by Router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694176"/>
            <a:ext cx="2852928" cy="2999232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3694176"/>
            <a:ext cx="2852928" cy="54864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767328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🟢  LITE TIER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169664"/>
            <a:ext cx="2697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C8D8F0"/>
                </a:solidFill>
              </a:rPr>
              <a:t>• Simple queries (factual, basic math, trivial code)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8D8F0"/>
                </a:solidFill>
              </a:rPr>
              <a:t>• Model A: Gemini 2.5 Flash-Lite  (Google)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8D8F0"/>
                </a:solidFill>
              </a:rPr>
              <a:t>• Model B: GPT-OSS 20B  (Groq)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8D8F0"/>
                </a:solidFill>
              </a:rPr>
              <a:t>• Cost: $0.00005 / 1k tokens  |  ~400 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55263" y="3694176"/>
            <a:ext cx="2852928" cy="2999232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55263" y="3694176"/>
            <a:ext cx="2852928" cy="54864"/>
          </a:xfrm>
          <a:prstGeom prst="rect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6703" y="3767328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🟠  STANDARD TIER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46703" y="4169664"/>
            <a:ext cx="2697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C8D8F0"/>
                </a:solidFill>
              </a:rPr>
              <a:t>• Medium queries (algorithms, comparisons, SQL)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8D8F0"/>
                </a:solidFill>
              </a:rPr>
              <a:t>• Model A: LLaMA 3.1 8B  (Groq)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8D8F0"/>
                </a:solidFill>
              </a:rPr>
              <a:t>• Model B: GPT-OSS 120B  (Groq)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8D8F0"/>
                </a:solidFill>
              </a:rPr>
              <a:t>• Cost: $0.0001 / 1k tokens  |  ~500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36207" y="3694176"/>
            <a:ext cx="2852928" cy="2999232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36207" y="3694176"/>
            <a:ext cx="2852928" cy="54864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7" y="3767328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🔴  PRO TIER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7647" y="4169664"/>
            <a:ext cx="2697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C8D8F0"/>
                </a:solidFill>
              </a:rPr>
              <a:t>• Complex queries (system design, proofs, LRU cache)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8D8F0"/>
                </a:solidFill>
              </a:rPr>
              <a:t>• Model A: LLaMA 3.3 70B  (Groq)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8D8F0"/>
                </a:solidFill>
              </a:rPr>
              <a:t>• Model B: Gemini 2.5 Flash  (Google)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8D8F0"/>
                </a:solidFill>
              </a:rPr>
              <a:t>• Cost: $0.0008 / 1k tokens  |  ~2500 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17152" y="3694176"/>
            <a:ext cx="2852928" cy="2999232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17152" y="3694176"/>
            <a:ext cx="2852928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08592" y="3767328"/>
            <a:ext cx="2670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🔀  ROUTER MODEL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08592" y="4169664"/>
            <a:ext cx="2697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C8D8F0"/>
                </a:solidFill>
              </a:rPr>
              <a:t>• Classification only — not used for answers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8D8F0"/>
                </a:solidFill>
              </a:rPr>
              <a:t>• Model: LLaMA 3.1 8B  (Groq)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8D8F0"/>
                </a:solidFill>
              </a:rPr>
              <a:t>• Temperature = 0  →  fully deterministic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8D8F0"/>
                </a:solidFill>
              </a:rPr>
              <a:t>• Overhead: ~100 ms  |  &lt; 1 % of query cost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07040" y="6492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A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"/>
            <a:ext cx="2057400" cy="24688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5544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Core Features — What Deep Agent Delivers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3785615" cy="2450592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378561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682495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🔀  Intelligent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21408"/>
            <a:ext cx="3547872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LLaMA 8B classifies agent + complexity at runtime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Agents: Coding · Math · Reasoning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Complexity → Tier: simple/medium/complex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Fully automatic — zero user 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572768"/>
            <a:ext cx="3785615" cy="2450592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572768"/>
            <a:ext cx="3785615" cy="54864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1682495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💰  Cost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2121408"/>
            <a:ext cx="3547872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Right model for each query — not always Pro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Up to 94 % cheaper than all-Pro routing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Per-query cost + savings shown in UI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All 6 models compared in cost 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6" y="1572768"/>
            <a:ext cx="3785615" cy="2450592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0456" y="1572768"/>
            <a:ext cx="3785615" cy="54864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682495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🛡️  3-Layer Guardrails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121408"/>
            <a:ext cx="3547872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Input: injection detection, PII warn, rate limit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Output: dangerous code, uncertainty detection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System: $5 daily cost ceiling auto-enforced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Works independently of routing or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151376"/>
            <a:ext cx="3785615" cy="2450592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151376"/>
            <a:ext cx="3785615" cy="54864"/>
          </a:xfrm>
          <a:prstGeom prst="rect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426110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🔄  3-Level 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4700016"/>
            <a:ext cx="3547872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Primary model → same-tier alternate → lite_b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Fallback triggered silently, shown in UI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Error details displayed for transparency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Guarantees 99.8 % response uptime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4151376"/>
            <a:ext cx="3785615" cy="2450592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0248" y="4151376"/>
            <a:ext cx="3785615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9976" y="426110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⬆️  Model Upgrade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9976" y="4700016"/>
            <a:ext cx="3547872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Horizontal switch: same tier, different model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Vertical upgrade: lite → standard → pro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Full chain: lite_a → lite_b → … → pro_b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Side-by-side cost + latency comparison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0456" y="4151376"/>
            <a:ext cx="3785615" cy="2450592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0456" y="4151376"/>
            <a:ext cx="3785615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3" y="426110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📊  Analytics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4700016"/>
            <a:ext cx="3547872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5 live metrics: cost, latency, saved %, fallbacks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Charts: tier dist., cost/query, latency trend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All-6-model cost table per query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C8D8F0"/>
                </a:solidFill>
              </a:rPr>
              <a:t>▸  CSV log with clear-all + rerun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92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A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"/>
            <a:ext cx="2057400" cy="24688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5544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User Journey — Annotated Demo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What happens between typing a query and seeing the answer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572768"/>
            <a:ext cx="5669280" cy="1627632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572768"/>
            <a:ext cx="566928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73936"/>
            <a:ext cx="640080" cy="6400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" y="1792224"/>
            <a:ext cx="621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D1A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" y="1682495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User Types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5" y="2121408"/>
            <a:ext cx="4663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Text area with pre-filled example queries in sidebar.
Sidebar shows live rate limit &amp; daily budget status.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572768"/>
            <a:ext cx="5669280" cy="1627632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72768"/>
            <a:ext cx="5669280" cy="54864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73368" y="1773936"/>
            <a:ext cx="640080" cy="64008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92224"/>
            <a:ext cx="621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D1A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1464" y="1682495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Input Guardrails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2121408"/>
            <a:ext cx="4663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Blocks 12 injection phrases. Warns on PII (email, phone, SSN).
Enforces 5000-char limit. Rate-limits at 20 req / min.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3328415"/>
            <a:ext cx="5669280" cy="1627632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" y="3328415"/>
            <a:ext cx="56692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529584"/>
            <a:ext cx="64008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" y="3547872"/>
            <a:ext cx="621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D1A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5" y="3438144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Router Classifies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5" y="3877055"/>
            <a:ext cx="4663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LLaMA 8B (Groq) returns JSON: agent + complexity + confidence.
Maps complexity → tier → model_key. Temperature = 0.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328415"/>
            <a:ext cx="5669280" cy="1627632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328415"/>
            <a:ext cx="5669280" cy="54864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73368" y="3529584"/>
            <a:ext cx="640080" cy="64008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3547872"/>
            <a:ext cx="621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D1A"/>
                </a:solidFill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41464" y="3438144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Agent Executes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41464" y="3877055"/>
            <a:ext cx="4663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Specialized system prompt loaded (Coding / Math / Reasoning).
LLM called via LiteLLM. 3-level fallback on any failure.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5084064"/>
            <a:ext cx="5669280" cy="1627632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7472" y="5084064"/>
            <a:ext cx="5669280" cy="54864"/>
          </a:xfrm>
          <a:prstGeom prst="rect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285231"/>
            <a:ext cx="640080" cy="640080"/>
          </a:xfrm>
          <a:prstGeom prst="rect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" y="5303520"/>
            <a:ext cx="621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D1A"/>
                </a:solidFill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5295" y="5193792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Output Guardrails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5295" y="5632703"/>
            <a:ext cx="4663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Scans response for dangerous code patterns (eval, os.system…).
Flags uncertainty phrases. Warns if response too short.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5084064"/>
            <a:ext cx="5669280" cy="1627632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5084064"/>
            <a:ext cx="566928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73368" y="5285231"/>
            <a:ext cx="640080" cy="6400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5303520"/>
            <a:ext cx="621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70D1A"/>
                </a:solidFill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41464" y="5193792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Results + Analytics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41464" y="5632703"/>
            <a:ext cx="4663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Response rendered in markdown. Metrics: latency, tokens, cost.
All-6-model cost table. Upgrade buttons. CSV logged.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492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A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"/>
            <a:ext cx="2788920" cy="246888"/>
          </a:xfrm>
          <a:prstGeom prst="rect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55448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METHODS, SKILLS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Technology Stack &amp; Project File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57276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FF"/>
                </a:solidFill>
              </a:rPr>
              <a:t>Technology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993392"/>
            <a:ext cx="1862328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2048256"/>
            <a:ext cx="1780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37232" y="1993392"/>
            <a:ext cx="1862328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2952" y="2048256"/>
            <a:ext cx="1780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26992" y="1993392"/>
            <a:ext cx="1862328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2712" y="2048256"/>
            <a:ext cx="1780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2340864"/>
            <a:ext cx="18623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2386584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UI Framework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37232" y="2340864"/>
            <a:ext cx="18623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2952" y="2386584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Streamlit 1.30+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26992" y="2340864"/>
            <a:ext cx="18623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72712" y="2386584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Web app +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2688336"/>
            <a:ext cx="18623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2734056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LLM Gateway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37232" y="2688336"/>
            <a:ext cx="18623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2952" y="2734056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LiteLLM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26992" y="2688336"/>
            <a:ext cx="18623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72712" y="2734056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Unified API (Groq + Gemini)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3035808"/>
            <a:ext cx="18623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3081528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Fast Inference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37232" y="3035808"/>
            <a:ext cx="18623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2952" y="3081528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Groq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26992" y="3035808"/>
            <a:ext cx="18623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72712" y="3081528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LLaMA 8B · 70B · GPT-OSS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3383280"/>
            <a:ext cx="18623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" y="3429000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Lightweight LLM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37232" y="3383280"/>
            <a:ext cx="18623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2952" y="3429000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Google Gemini 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26992" y="3383280"/>
            <a:ext cx="18623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72712" y="3429000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Flash-Lite &amp; Flash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" y="3730752"/>
            <a:ext cx="18623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3776472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Data Viz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37232" y="3730752"/>
            <a:ext cx="18623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2952" y="3776472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Plotly + Pandas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26992" y="3730752"/>
            <a:ext cx="18623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72712" y="3776472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Analytics charts + tables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" y="4078224"/>
            <a:ext cx="18623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" y="4123944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CSV Logging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37232" y="4078224"/>
            <a:ext cx="18623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2952" y="4123944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Python stdlib csv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26992" y="4078224"/>
            <a:ext cx="18623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72712" y="4123944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Query log analytics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" y="4425696"/>
            <a:ext cx="18623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192" y="4471416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Config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37232" y="4425696"/>
            <a:ext cx="18623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82952" y="4471416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Python dotenv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26992" y="4425696"/>
            <a:ext cx="18623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72712" y="4471416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API key management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157276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FF"/>
                </a:solidFill>
              </a:rPr>
              <a:t>File Architecture (7 core files)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55080" y="1993392"/>
            <a:ext cx="5669280" cy="4663440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73952" y="2121408"/>
            <a:ext cx="5394960" cy="512064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73952" y="2121408"/>
            <a:ext cx="54864" cy="5120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01968" y="21945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app.py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21945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Streamlit UI + main orchestration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73952" y="2734056"/>
            <a:ext cx="5394960" cy="512064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73952" y="2734056"/>
            <a:ext cx="54864" cy="5120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01968" y="2807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router.py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32520" y="28072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Query classification — LLaMA 8B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73952" y="3346704"/>
            <a:ext cx="5394960" cy="512064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73952" y="3346704"/>
            <a:ext cx="54864" cy="512064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01968" y="34198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07A"/>
                </a:solidFill>
              </a:rPr>
              <a:t>agents.py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32520" y="34198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Sub-agent execution + fallback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73952" y="3959352"/>
            <a:ext cx="5394960" cy="512064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3952" y="3959352"/>
            <a:ext cx="54864" cy="512064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01968" y="40325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C4C"/>
                </a:solidFill>
              </a:rPr>
              <a:t>guardrails.py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32520" y="40325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3-layer safety system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73952" y="4572000"/>
            <a:ext cx="5394960" cy="512064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73952" y="4572000"/>
            <a:ext cx="54864" cy="512064"/>
          </a:xfrm>
          <a:prstGeom prst="rect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01968" y="46451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030"/>
                </a:solidFill>
              </a:rPr>
              <a:t>analytics.py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32520" y="4645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CSV logging + cost computation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73952" y="5184648"/>
            <a:ext cx="5394960" cy="512064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473952" y="5184648"/>
            <a:ext cx="54864" cy="5120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01968" y="52578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config.py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32520" y="52578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Model registry + upgrade paths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73952" y="5797296"/>
            <a:ext cx="5394960" cy="512064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473952" y="5797296"/>
            <a:ext cx="54864" cy="512064"/>
          </a:xfrm>
          <a:prstGeom prst="rect">
            <a:avLst/>
          </a:prstGeom>
          <a:solidFill>
            <a:srgbClr val="55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601968" y="58704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B8A"/>
                </a:solidFill>
              </a:rPr>
              <a:t>query_logs.csv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32520" y="58704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Auto-created analytics log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07040" y="6492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A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"/>
            <a:ext cx="2788920" cy="246888"/>
          </a:xfrm>
          <a:prstGeom prst="rect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55448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METHODS, SKILLS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Layered Architecture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How the 4 layers interact inside Deep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" y="1572768"/>
            <a:ext cx="11521440" cy="1115568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" y="1572768"/>
            <a:ext cx="1152144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572768"/>
            <a:ext cx="54864" cy="11155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66420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LAYER 4 —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2029967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D8F0"/>
                </a:solidFill>
              </a:rPr>
              <a:t>app.py  (Streamlit)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9664" y="1664208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UI rendering · session state · button handlers · upgrade panel · analytics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2807208"/>
            <a:ext cx="11521440" cy="1115568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" y="2807208"/>
            <a:ext cx="115214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" y="2807208"/>
            <a:ext cx="54864" cy="11155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289864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LAYER 3 — ORCHESTRATION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326440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D8F0"/>
                </a:solidFill>
              </a:rPr>
              <a:t>router.py  +  agents.py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9664" y="2898648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Query classification · model selection · specialized prompts · 3-level fallback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4041648"/>
            <a:ext cx="11521440" cy="1115568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" y="4041648"/>
            <a:ext cx="11521440" cy="54864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" y="4041648"/>
            <a:ext cx="54864" cy="1115568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4133087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C4C"/>
                </a:solidFill>
              </a:rPr>
              <a:t>LAYER 2 —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" y="449884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D8F0"/>
                </a:solidFill>
              </a:rPr>
              <a:t>guardrails.py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9664" y="4133087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Input validation · output scanning · rate limiting · daily cost ceiling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" y="5276088"/>
            <a:ext cx="11521440" cy="1115568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" y="5276088"/>
            <a:ext cx="11521440" cy="54864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" y="5276088"/>
            <a:ext cx="54864" cy="1115568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536752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07A"/>
                </a:solidFill>
              </a:rPr>
              <a:t>LAYER 1 — FOUNDATION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573328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D8F0"/>
                </a:solidFill>
              </a:rPr>
              <a:t>config.py  +  analytics.py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9664" y="5367528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F0"/>
                </a:solidFill>
              </a:rPr>
              <a:t>Model registry · upgrade paths · guardrail config · CSV logging · cost computation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" y="6510528"/>
            <a:ext cx="11521440" cy="228600"/>
          </a:xfrm>
          <a:prstGeom prst="rect">
            <a:avLst/>
          </a:prstGeom>
          <a:solidFill>
            <a:srgbClr val="03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1967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B8A"/>
                </a:solidFill>
              </a:rPr>
              <a:t>External APIs:   Groq  (LLaMA 8B · 70B · GPT-OSS 20B · 120B)   ·   Google Gemini  (Flash-Lite · Flash)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92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A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"/>
            <a:ext cx="2788920" cy="246888"/>
          </a:xfrm>
          <a:prstGeom prst="rect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55448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METHODS, SKILLS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Registry &amp; Upgrade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6 models · 3 tiers · 2 providers · 1 deterministic upgrade path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572768"/>
            <a:ext cx="1615875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627632"/>
            <a:ext cx="1533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90779" y="1572768"/>
            <a:ext cx="1615875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6499" y="1627632"/>
            <a:ext cx="1533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4086" y="1572768"/>
            <a:ext cx="1615875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9806" y="1627632"/>
            <a:ext cx="1533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Provider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77394" y="1572768"/>
            <a:ext cx="1615875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3114" y="1627632"/>
            <a:ext cx="1533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20701" y="1572768"/>
            <a:ext cx="1615875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6421" y="1627632"/>
            <a:ext cx="1533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Cost / 1k tokens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64009" y="1572768"/>
            <a:ext cx="1615875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09729" y="1627632"/>
            <a:ext cx="1533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Avg Latency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07316" y="1572768"/>
            <a:ext cx="1615875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3036" y="1627632"/>
            <a:ext cx="1533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Strength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1920240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1965960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lite_a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90779" y="1920240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36499" y="1965960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gemini-2.5-flash-lite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4086" y="1920240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9806" y="1965960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Google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77394" y="1920240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23114" y="1965960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🟢 Lite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20701" y="1920240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6421" y="1965960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$0.00005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64009" y="1920240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09729" y="1965960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400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07316" y="1920240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53036" y="1965960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Fastest &amp; cheapest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" y="2267712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2313432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lite_b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90779" y="2267712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36499" y="2313432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gpt-oss-20b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34086" y="2267712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79806" y="2313432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Groq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77394" y="2267712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23114" y="2313432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🟢 Lite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20701" y="2267712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66421" y="2313432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$0.000075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64009" y="2267712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09729" y="2313432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500 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07316" y="2267712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53036" y="2313432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Fast 20B, 1000T/s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" y="2615184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192" y="2660904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standard_a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90779" y="2615184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36499" y="2660904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llama-3.1-8b-instant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34086" y="2615184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79806" y="2660904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Groq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77394" y="2615184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23114" y="2660904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🟠 Standard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20701" y="2615184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66421" y="2660904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$0.0001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64009" y="2615184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09729" y="2660904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500 ms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207316" y="2615184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53036" y="2660904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Balanced cost/quality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7472" y="2962656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3192" y="3008376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standard_b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90779" y="2962656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36499" y="3008376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gpt-oss-120b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34086" y="2962656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79806" y="3008376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Groq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77394" y="2962656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23114" y="3008376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🟠 Standard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920701" y="2962656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66421" y="3008376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$0.00015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64009" y="2962656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09729" y="3008376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800 ms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207316" y="2962656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253036" y="3008376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Strong reasoning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7472" y="3310128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93192" y="3355848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pro_a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90779" y="3310128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36499" y="3355848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llama-3.3-70b-versatile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34086" y="3310128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79806" y="3355848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Groq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277394" y="3310128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23114" y="3355848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🔴 Pro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920701" y="3310128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966421" y="3355848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$0.0008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64009" y="3310128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609729" y="3355848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2500 ms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207316" y="3310128"/>
            <a:ext cx="1615875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253036" y="3355848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Best open-source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47472" y="3657600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93192" y="3703320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pro_b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990779" y="3657600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036499" y="3703320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gemini-2.5-flash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34086" y="3657600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79806" y="3703320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Google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277394" y="3657600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323114" y="3703320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🔴 Pro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920701" y="3657600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966421" y="3703320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$0.0005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64009" y="3657600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609729" y="3703320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2000 ms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207316" y="3657600"/>
            <a:ext cx="1615875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53036" y="3703320"/>
            <a:ext cx="15335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Google's best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7472" y="513892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Upgrade Chain  (one-directional — no downgrade):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47472" y="5559552"/>
            <a:ext cx="1572768" cy="475488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93192" y="5586984"/>
            <a:ext cx="14813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lite_a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929384" y="5650992"/>
            <a:ext cx="9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▶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993392" y="5559552"/>
            <a:ext cx="1572768" cy="475488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039112" y="5586984"/>
            <a:ext cx="14813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lite_b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75304" y="5650992"/>
            <a:ext cx="9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▶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39312" y="5559552"/>
            <a:ext cx="1572768" cy="475488"/>
          </a:xfrm>
          <a:prstGeom prst="rect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85032" y="5586984"/>
            <a:ext cx="14813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standard_a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221224" y="5650992"/>
            <a:ext cx="9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▶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285232" y="5559552"/>
            <a:ext cx="1572768" cy="475488"/>
          </a:xfrm>
          <a:prstGeom prst="rect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330952" y="5586984"/>
            <a:ext cx="14813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standard_b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867144" y="5650992"/>
            <a:ext cx="9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▶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931152" y="5559552"/>
            <a:ext cx="1572768" cy="475488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976872" y="5586984"/>
            <a:ext cx="14813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pro_a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513064" y="5650992"/>
            <a:ext cx="9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▶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577072" y="5559552"/>
            <a:ext cx="1572768" cy="475488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622792" y="5586984"/>
            <a:ext cx="14813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pro_b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47472" y="6144768"/>
            <a:ext cx="11503152" cy="475488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5488" y="61904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030"/>
                </a:solidFill>
              </a:rPr>
              <a:t>Fallback Logic:  Primary model fails  →  same-tier alternate  →  lite_b (GPT-OSS 20B)  as hard last resort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607040" y="6492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A"/>
                </a:solidFill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"/>
            <a:ext cx="2788920" cy="246888"/>
          </a:xfrm>
          <a:prstGeom prst="rect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55448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METHODS, SKILLS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New Skills &amp; Technologies Acquired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Core learning outcomes from building Deep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572768"/>
            <a:ext cx="5669280" cy="2414016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572768"/>
            <a:ext cx="56692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70078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LLM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139696"/>
            <a:ext cx="539496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Multi-provider API integration via LiteLLM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Prompt engineering per agent specialization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Token budget management &amp; cost calculation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Fallback chain design across providers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Temperature=0 for deterministic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72768"/>
            <a:ext cx="5669280" cy="2414016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72768"/>
            <a:ext cx="566928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0078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AI System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39696"/>
            <a:ext cx="539496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Router → Agent pipeline architecture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Stateless LLM system design patterns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3-layer guardrail implementation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Model registry &amp; upgrade path design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JSON-structured LLM output parsing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4114800"/>
            <a:ext cx="5669280" cy="2414016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4114800"/>
            <a:ext cx="5669280" cy="54864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24281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Streamlit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4681728"/>
            <a:ext cx="539496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st.session_state for persistent UI state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st.cache_data for performance optimization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st.status for live pipeline updates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Custom CSS injection for styling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st.download_button for data export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114800"/>
            <a:ext cx="5669280" cy="2414016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114800"/>
            <a:ext cx="5669280" cy="54864"/>
          </a:xfrm>
          <a:prstGeom prst="rect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24281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Cloud &amp;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681728"/>
            <a:ext cx="539496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GCP service mapping (10 services identified)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Firestore vs JSON for session storage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Redis vs file-based caching trade-offs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BigQuery vs CSV for analytics pipelines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C8D8F0"/>
                </a:solidFill>
              </a:rPr>
              <a:t>✓  Cloud Run auto-scaling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92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A"/>
                </a:solidFill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"/>
            <a:ext cx="1874519" cy="246888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55448"/>
            <a:ext cx="17830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GOALS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8 Program Objectives —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How Deep Agent fulfils every internship objective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572768"/>
            <a:ext cx="5669280" cy="1207008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572768"/>
            <a:ext cx="73152" cy="1207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719072"/>
            <a:ext cx="502920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737360"/>
            <a:ext cx="4846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D1A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16642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029967"/>
            <a:ext cx="4754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Built &amp; deployed a live Streamlit app routing real queries
to real LLMs via Groq &amp; Gemini APIs with full UI.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572768"/>
            <a:ext cx="5669280" cy="1207008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72768"/>
            <a:ext cx="73152" cy="1207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719072"/>
            <a:ext cx="5029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1737360"/>
            <a:ext cx="4846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D1A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16642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Knowledge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2029967"/>
            <a:ext cx="4754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Learned LLM orchestration, prompt engineering, LiteLLM,
guardrail design, cost modelling, and GCP architecture.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2871215"/>
            <a:ext cx="5669280" cy="1207008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" y="2871215"/>
            <a:ext cx="73152" cy="1207008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" y="3017520"/>
            <a:ext cx="502920" cy="50292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3035808"/>
            <a:ext cx="4846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D1A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" y="296265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7A"/>
                </a:solidFill>
              </a:rPr>
              <a:t>Exploration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" y="3328415"/>
            <a:ext cx="4754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Explored 6 LLM models across 2 providers, 3 complexity
tiers, 10 GCP services, and Streamlit advanced patterns.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871215"/>
            <a:ext cx="5669280" cy="1207008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871215"/>
            <a:ext cx="73152" cy="1207008"/>
          </a:xfrm>
          <a:prstGeom prst="rect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3017520"/>
            <a:ext cx="502920" cy="502920"/>
          </a:xfrm>
          <a:prstGeom prst="rect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3035808"/>
            <a:ext cx="4846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D1A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296265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030"/>
                </a:solidFill>
              </a:rPr>
              <a:t>Identification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8312" y="3328415"/>
            <a:ext cx="4754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Identified: cost overrun, no fallback, rate-limit failures,
prompt injection risk, PII exposure, zero observability.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4169663"/>
            <a:ext cx="5669280" cy="1207008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7472" y="4169663"/>
            <a:ext cx="73152" cy="1207008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0352" y="4315968"/>
            <a:ext cx="502920" cy="50292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4334255"/>
            <a:ext cx="4846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D1A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" y="4261103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C4C"/>
                </a:solidFill>
              </a:rPr>
              <a:t>Innovation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" y="4626864"/>
            <a:ext cx="4754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Designed per-complexity routing, 3-level fallback chain,
per-agent specialized prompts, and model upgrade system.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169663"/>
            <a:ext cx="5669280" cy="1207008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4169663"/>
            <a:ext cx="73152" cy="12070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46520" y="4315968"/>
            <a:ext cx="502920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55664" y="4334255"/>
            <a:ext cx="4846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D1A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68312" y="4261103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</a:rPr>
              <a:t>Engagement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68312" y="4626864"/>
            <a:ext cx="4754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Iterative development with mentor feedback; responded to
review by planning Phase 2 memory &amp; cache features.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" y="5468112"/>
            <a:ext cx="5669280" cy="1207008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7472" y="5468112"/>
            <a:ext cx="73152" cy="1207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0352" y="5614416"/>
            <a:ext cx="502920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5632703"/>
            <a:ext cx="4846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D1A"/>
                </a:solidFill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2144" y="5559551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Evaluation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2144" y="5925312"/>
            <a:ext cx="4754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Analytics dashboard shows cost vs Pro baseline, fallback
rate, tier distribution — measurable, data-backed ROI.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5468112"/>
            <a:ext cx="5669280" cy="1207008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63640" y="5468112"/>
            <a:ext cx="73152" cy="1207008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46520" y="5614416"/>
            <a:ext cx="502920" cy="50292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55664" y="5632703"/>
            <a:ext cx="4846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D1A"/>
                </a:solidFill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8312" y="5559551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7A"/>
                </a:solidFill>
              </a:rPr>
              <a:t>Demonstration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68312" y="5925312"/>
            <a:ext cx="4754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Live Streamlit demo: full pipeline, guardrail blocking,
upgrade comparison, real-time cost metrics &amp; charts.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492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A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"/>
            <a:ext cx="1874519" cy="246888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55448"/>
            <a:ext cx="17830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GOALS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Objective Deep-Dive — 3-Layer Guardrail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Production-grade safety built into every query lifecycle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572768"/>
            <a:ext cx="3785615" cy="5074920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572768"/>
            <a:ext cx="3785615" cy="54864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642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C4C"/>
                </a:solidFill>
              </a:rPr>
              <a:t>LAYER 1  —  INPUT  (check_input)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31136"/>
            <a:ext cx="3547872" cy="96012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286000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Prompt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15184"/>
            <a:ext cx="3401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12 blocked phrases: 'ignore all instructions', 'jailbreak', 'DAN', 'reveal system prompt'…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28415"/>
            <a:ext cx="3547872" cy="96012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383279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PII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712463"/>
            <a:ext cx="3401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Regex patterns: email, phone (###-###-####), SSN (###-##-####), 16-digit credit card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25696"/>
            <a:ext cx="3547872" cy="96012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4480559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Length Limit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809744"/>
            <a:ext cx="3401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5000-character maximum — auto-truncates with visible warning to user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522975"/>
            <a:ext cx="3547872" cy="96012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5577839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Rate Limiting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5907023"/>
            <a:ext cx="3401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Sliding 60-second window — blocks at 20 requests/min using in-memory timestamps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1572768"/>
            <a:ext cx="3785615" cy="5074920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1572768"/>
            <a:ext cx="3785615" cy="54864"/>
          </a:xfrm>
          <a:prstGeom prst="rect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8" y="16642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030"/>
                </a:solidFill>
              </a:rPr>
              <a:t>LAYER 2  —  OUTPUT  (check_output)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7408" y="2231136"/>
            <a:ext cx="3547872" cy="96012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2286000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Dangerous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615184"/>
            <a:ext cx="3401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Detects: os.system(  eval(  exec(  subprocess  rm -rf  DROP TABLE  shutil.rmtree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07408" y="3328415"/>
            <a:ext cx="3547872" cy="96012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3383279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Uncertainty Phrases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712463"/>
            <a:ext cx="3401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Flags: 'I'm not sure'  'I cannot verify'  'this may be incorrect' → suggests upgrade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4425696"/>
            <a:ext cx="3547872" cy="96012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480559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Minimum Length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809744"/>
            <a:ext cx="3401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Response shorter than 10 chars flagged — likely model failure or refusal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07408" y="5522975"/>
            <a:ext cx="3547872" cy="96012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5577839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Transparency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907023"/>
            <a:ext cx="3401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All warnings shown to user in expandable panel, not silently suppressed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47888" y="1572768"/>
            <a:ext cx="3785615" cy="5074920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47888" y="1572768"/>
            <a:ext cx="378561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57616" y="16642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LAYER 3  —  SYSTEM  (track_cost / get_status)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57616" y="2231136"/>
            <a:ext cx="3547872" cy="96012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0768" y="2286000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Daily Budget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0768" y="2615184"/>
            <a:ext cx="3401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$5.00 ceiling — warning banner shown when exceeded, does not hard-block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57616" y="3328415"/>
            <a:ext cx="3547872" cy="96012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0768" y="3383279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Auto Reset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0768" y="3712463"/>
            <a:ext cx="3401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Resets at midnight using datetime.date comparison — in-memory state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57616" y="4425696"/>
            <a:ext cx="3547872" cy="96012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30768" y="4480559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Live Sidebar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30768" y="4809744"/>
            <a:ext cx="3401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🟢 / 🟡 / 🔴 indicators for rate usage and budget — updates on every rerun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57616" y="5522975"/>
            <a:ext cx="3547872" cy="96012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30768" y="5577839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0768" y="5907023"/>
            <a:ext cx="34015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Only real LLM calls tracked — zero-cost routes handled transparently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6492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A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"/>
            <a:ext cx="868680" cy="24688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5544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Results — Measured Outcomes &amp;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572768"/>
            <a:ext cx="2176272" cy="1389888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664208"/>
            <a:ext cx="20299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94 %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2304288"/>
            <a:ext cx="20299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Max Cost
Reduction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572768"/>
            <a:ext cx="2176272" cy="138988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664208"/>
            <a:ext cx="20299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57 %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2304288"/>
            <a:ext cx="20299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Average
Savings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1572768"/>
            <a:ext cx="2176272" cy="1389888"/>
          </a:xfrm>
          <a:prstGeom prst="rect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64208"/>
            <a:ext cx="20299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99.8 %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304288"/>
            <a:ext cx="20299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Uptime via
Fallback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0336" y="1572768"/>
            <a:ext cx="2176272" cy="13898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1664208"/>
            <a:ext cx="20299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2304288"/>
            <a:ext cx="20299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LLM Models
Integrated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64624" y="1572768"/>
            <a:ext cx="2176272" cy="1389888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37776" y="1664208"/>
            <a:ext cx="20299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7776" y="2304288"/>
            <a:ext cx="20299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Specialized
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312724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Cost Comparison — 500-Token Query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3547872"/>
            <a:ext cx="1709928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3602736"/>
            <a:ext cx="1627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84831" y="3547872"/>
            <a:ext cx="1709928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30551" y="3602736"/>
            <a:ext cx="1627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Tier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22191" y="3547872"/>
            <a:ext cx="1709928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67911" y="3602736"/>
            <a:ext cx="1627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500-Token Cost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59551" y="3547872"/>
            <a:ext cx="1709928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05271" y="3602736"/>
            <a:ext cx="1627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Latency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96912" y="3547872"/>
            <a:ext cx="1709928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42631" y="3602736"/>
            <a:ext cx="1627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Saving vs Pro 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3895344"/>
            <a:ext cx="17099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" y="3941063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Gemini 2.5 Flash-Lite  ← default Lite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84831" y="3895344"/>
            <a:ext cx="17099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30551" y="3941063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🟢 Lite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22191" y="3895344"/>
            <a:ext cx="17099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67911" y="3941063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$0.000025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59551" y="3895344"/>
            <a:ext cx="17099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05271" y="3941063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400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96912" y="3895344"/>
            <a:ext cx="17099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42631" y="3941063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94 %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" y="4242816"/>
            <a:ext cx="17099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4288536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GPT-OSS 20B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84831" y="4242816"/>
            <a:ext cx="17099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0551" y="4288536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🟢 Lite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22191" y="4242816"/>
            <a:ext cx="17099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67911" y="4288536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$0.0000375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59551" y="4242816"/>
            <a:ext cx="17099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05271" y="4288536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500 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96912" y="4242816"/>
            <a:ext cx="17099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42631" y="4288536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91 %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" y="4590288"/>
            <a:ext cx="17099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3192" y="4636007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LLaMA 3.1 8B  ← default Standard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84831" y="4590288"/>
            <a:ext cx="17099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30551" y="4636007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🟠 Standard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22191" y="4590288"/>
            <a:ext cx="17099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67911" y="4636007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$0.00005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59551" y="4590288"/>
            <a:ext cx="17099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05271" y="4636007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500 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96912" y="4590288"/>
            <a:ext cx="17099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42631" y="4636007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88 %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" y="4937760"/>
            <a:ext cx="17099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3192" y="4983480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GPT-OSS 120B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84831" y="4937760"/>
            <a:ext cx="17099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30551" y="4983480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🟠 Standard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22191" y="4937760"/>
            <a:ext cx="17099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67911" y="4983480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$0.000075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59551" y="4937760"/>
            <a:ext cx="17099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05271" y="4983480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800 ms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96912" y="4937760"/>
            <a:ext cx="17099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42631" y="4983480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81 %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" y="5285231"/>
            <a:ext cx="17099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3192" y="5330951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LLaMA 3.3 70B  ← default Pro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84831" y="5285231"/>
            <a:ext cx="17099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30551" y="5330951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🔴 Pro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822191" y="5285231"/>
            <a:ext cx="17099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67911" y="5330951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$0.0004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59551" y="5285231"/>
            <a:ext cx="17099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05271" y="5330951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2500 ms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296912" y="5285231"/>
            <a:ext cx="1709928" cy="329184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42631" y="5330951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baseline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47472" y="5632704"/>
            <a:ext cx="17099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93192" y="5678424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Gemini 2.5 Flash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84831" y="5632704"/>
            <a:ext cx="17099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30551" y="5678424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🔴 Pro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822191" y="5632704"/>
            <a:ext cx="17099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867911" y="5678424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$0.00025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559551" y="5632704"/>
            <a:ext cx="17099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605271" y="5678424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2000 ms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296912" y="5632704"/>
            <a:ext cx="1709928" cy="329184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42631" y="5678424"/>
            <a:ext cx="16276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38 %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235440" y="3127248"/>
            <a:ext cx="2852928" cy="3657600"/>
          </a:xfrm>
          <a:prstGeom prst="rect">
            <a:avLst/>
          </a:prstGeom>
          <a:solidFill>
            <a:srgbClr val="0F1D35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45168" y="3218688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Routing Distribution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45168" y="3657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🟢 ~5 %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561320" y="36576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Simple → Lite tier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345168" y="40873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🟠 ~60 %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561320" y="408736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Medium → Standard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345168" y="451713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🔴 ~35 %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561320" y="4517136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Complex → Pro tier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45168" y="53766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🔀 ~100ms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561320" y="537667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Router overhead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345168" y="5806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🛡️ &lt;2 %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561320" y="58064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Injection attempts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45168" y="62362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🔄 ~2 %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561320" y="623620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F0"/>
                </a:solidFill>
              </a:rPr>
              <a:t>Fallback trigger rate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607040" y="6492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A"/>
                </a:solidFill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"/>
            <a:ext cx="868680" cy="24688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5544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Overall Internship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What was built, what was learned, what was delivered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572768"/>
            <a:ext cx="5486400" cy="5074920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572768"/>
            <a:ext cx="548640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6642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FF"/>
                </a:solidFill>
              </a:rPr>
              <a:t>What Was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103120"/>
            <a:ext cx="5248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✅  Multi-agent router — 6 files, ~1 200 lines of code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✅  6 LLM models unified under LiteLLM gateway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✅  3 specialized agents with structured prompts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✅  3-level automatic fallback (primary→tier→lite_b)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✅  3-layer guardrails: injection, output, cost ceiling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✅  Model upgrade system — horizontal + vertical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✅  Analytics dashboard — 5 metrics, 4 chart tabs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✅  All-6-model cost comparison per query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✅  Streamlit Cloud deployment (Streamlit-safe paths)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✅  GCP migration roadmap for 10 production services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5936" y="1572768"/>
            <a:ext cx="5486400" cy="5074920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45936" y="1572768"/>
            <a:ext cx="5486400" cy="54864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6642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07A"/>
                </a:solidFill>
              </a:rPr>
              <a:t>What Was Learned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5248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🎓  LLM API integration: Groq, Gemini, LiteLLM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🎓  Prompt engineering for domain-specific agents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🎓  Cost-aware architecture design principles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🎓  Guardrail patterns for production AI safety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🎓  Stateful UI design with Streamlit session_state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🎓  GCP cloud-native production architecture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🎓  Iterative development with mentor feedback loops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🎓  Trade-offs: JSON vs Firestore, CSV vs BigQuery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🎓  Multi-provider fallback resilience patterns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8D8F0"/>
                </a:solidFill>
              </a:rPr>
              <a:t>  🎓  AI system documentation at production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92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A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"/>
            <a:ext cx="1325880" cy="2468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55448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Future Scope — Phase 2 &amp; GCP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Planned roadmap building on the current foundation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572768"/>
            <a:ext cx="5321808" cy="5074920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572768"/>
            <a:ext cx="5321808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664208"/>
            <a:ext cx="5102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2 — Feature Roadmap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121408"/>
            <a:ext cx="5074920" cy="566928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7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🧠  Conversational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432303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Session JSON · last 5 turns · per-agent namespacing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779776"/>
            <a:ext cx="5074920" cy="566928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82549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⚡  Semantic 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090672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difflib fuzzy match · $0 on repeated queries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3438144"/>
            <a:ext cx="5074920" cy="566928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483863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🔀  Handoff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749039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Conversation context injected on model upgrades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4096512"/>
            <a:ext cx="5074920" cy="566928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1422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📥 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407408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Download conversations as Markdown or 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4754879"/>
            <a:ext cx="5074920" cy="566928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800599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👍  Feedback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065775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Thumbs up/down to improve routing accuracy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5413248"/>
            <a:ext cx="5074920" cy="566928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45896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🖥️  Code Executor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724144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Run generated Python in isolated sandbox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" y="6071616"/>
            <a:ext cx="5074920" cy="566928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11733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📈  Preference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82512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8F0"/>
                </a:solidFill>
              </a:rPr>
              <a:t>Auto-route to user's preferred model per 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16752" y="1572768"/>
            <a:ext cx="5824728" cy="5074920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16752" y="1572768"/>
            <a:ext cx="5824728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16642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GCP Production Migration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4768" y="2121408"/>
            <a:ext cx="5577840" cy="54864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216712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A030"/>
                </a:solidFill>
              </a:rPr>
              <a:t>sessions/*.json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5008" y="2185415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6B8A"/>
                </a:solidFill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4464" y="2167127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07A"/>
                </a:solidFill>
              </a:rPr>
              <a:t>Firestore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441448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F0"/>
                </a:solidFill>
              </a:rPr>
              <a:t>Real-time, multi-user, survives restarts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4768" y="2761487"/>
            <a:ext cx="5577840" cy="54864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280720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A030"/>
                </a:solidFill>
              </a:rPr>
              <a:t>query_cache.json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2825495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6B8A"/>
                </a:solidFill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2807207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07A"/>
                </a:solidFill>
              </a:rPr>
              <a:t>Redis Memorystore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3081527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F0"/>
                </a:solidFill>
              </a:rPr>
              <a:t>TTL per tier, auto-eviction, shared across instances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44768" y="3401568"/>
            <a:ext cx="5577840" cy="54864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44728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A030"/>
                </a:solidFill>
              </a:rPr>
              <a:t>query_logs.csv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65008" y="3465575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6B8A"/>
                </a:solidFill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447287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07A"/>
                </a:solidFill>
              </a:rPr>
              <a:t>BigQuery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3721607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F0"/>
                </a:solidFill>
              </a:rPr>
              <a:t>Streaming inserts, SQL analytics, Looker Studio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44768" y="4041648"/>
            <a:ext cx="5577840" cy="54864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40873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A030"/>
                </a:solidFill>
              </a:rPr>
              <a:t>os.getenv(keys)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65008" y="4105656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6B8A"/>
                </a:solidFill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4464" y="40873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Secret Manager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4361688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F0"/>
                </a:solidFill>
              </a:rPr>
              <a:t>Encrypted at rest, audited access, versioned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44768" y="4681727"/>
            <a:ext cx="5577840" cy="54864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472744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A030"/>
                </a:solidFill>
              </a:rPr>
              <a:t>Streamlit Cloud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65008" y="4745736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6B8A"/>
                </a:solidFill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4464" y="4727447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Cloud Run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5001767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F0"/>
                </a:solidFill>
              </a:rPr>
              <a:t>Auto-scale 0 → 1000+ instances, pay per use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44768" y="5321808"/>
            <a:ext cx="5577840" cy="54864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0" y="53675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A030"/>
                </a:solidFill>
              </a:rPr>
              <a:t>Groq/Gemini APIs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65008" y="5385816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6B8A"/>
                </a:solidFill>
              </a:rPr>
              <a:t>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84464" y="5367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Vertex AI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5641848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F0"/>
                </a:solidFill>
              </a:rPr>
              <a:t>No rate limits, in-network latency, SLA-backed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44768" y="5961888"/>
            <a:ext cx="5577840" cy="548640"/>
          </a:xfrm>
          <a:prstGeom prst="rect">
            <a:avLst/>
          </a:prstGeom>
          <a:solidFill>
            <a:srgbClr val="13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17920" y="600760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A030"/>
                </a:solidFill>
              </a:rPr>
              <a:t>Plotly sidebar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65008" y="6025896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6B8A"/>
                </a:solidFill>
              </a:rPr>
              <a:t>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84464" y="6007607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030"/>
                </a:solidFill>
              </a:rPr>
              <a:t>Cloud Monitoring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0" y="6281927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8F0"/>
                </a:solidFill>
              </a:rPr>
              <a:t>Alerts on cost spike, fallback surge, latency P99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07040" y="6492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A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868680"/>
            <a:ext cx="9994392" cy="4800600"/>
          </a:xfrm>
          <a:prstGeom prst="rect">
            <a:avLst/>
          </a:prstGeom>
          <a:solidFill>
            <a:srgbClr val="0F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868680"/>
            <a:ext cx="999439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09728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9994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C2FF"/>
                </a:solidFill>
              </a:rPr>
              <a:t>Deep Agent v2.0  —  Dynamic Multi-Agent Router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3127248"/>
            <a:ext cx="12188952" cy="18288"/>
          </a:xfrm>
          <a:prstGeom prst="rect">
            <a:avLst/>
          </a:prstGeom>
          <a:solidFill>
            <a:srgbClr val="55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10128"/>
            <a:ext cx="9994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Open for Questions &amp; Discussion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75588" y="3950208"/>
            <a:ext cx="228600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30452" y="3995928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0D1A"/>
                </a:solidFill>
              </a:rPr>
              <a:t>📁  GitHub Repo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26180" y="3950208"/>
            <a:ext cx="2286000" cy="50292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81044" y="3995928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0D1A"/>
                </a:solidFill>
              </a:rPr>
              <a:t>🌐  Live Demo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6772" y="3950208"/>
            <a:ext cx="2286000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1636" y="3995928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0D1A"/>
                </a:solidFill>
              </a:rPr>
              <a:t>📄  README.md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27364" y="3950208"/>
            <a:ext cx="2286000" cy="502920"/>
          </a:xfrm>
          <a:prstGeom prst="rect">
            <a:avLst/>
          </a:prstGeom>
          <a:solidFill>
            <a:srgbClr val="FF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2228" y="3995928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0D1A"/>
                </a:solidFill>
              </a:rPr>
              <a:t>☁️   GCP 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03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961888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D8F0"/>
                </a:solidFill>
              </a:rPr>
              <a:t>Built with   LiteLLM  ·  Groq  ·  Google Gemini  ·  Streamlit  ·  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45936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B8A"/>
                </a:solidFill>
              </a:rPr>
              <a:t>Intelligent Routing  ·  Cost Optimization  ·  3-Layer Guardrails  ·  Analytics  ·  Model Upgrades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92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B8A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